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2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04282-BCC0-4CDE-89B2-E2F142C4E487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31F4-AD17-4806-ADE0-0ED8C8F124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4854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04282-BCC0-4CDE-89B2-E2F142C4E487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31F4-AD17-4806-ADE0-0ED8C8F124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509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04282-BCC0-4CDE-89B2-E2F142C4E487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31F4-AD17-4806-ADE0-0ED8C8F124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1527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04282-BCC0-4CDE-89B2-E2F142C4E487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31F4-AD17-4806-ADE0-0ED8C8F124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6937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04282-BCC0-4CDE-89B2-E2F142C4E487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31F4-AD17-4806-ADE0-0ED8C8F124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2336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04282-BCC0-4CDE-89B2-E2F142C4E487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31F4-AD17-4806-ADE0-0ED8C8F124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3298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04282-BCC0-4CDE-89B2-E2F142C4E487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31F4-AD17-4806-ADE0-0ED8C8F124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350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04282-BCC0-4CDE-89B2-E2F142C4E487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31F4-AD17-4806-ADE0-0ED8C8F124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6004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04282-BCC0-4CDE-89B2-E2F142C4E487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31F4-AD17-4806-ADE0-0ED8C8F124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716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04282-BCC0-4CDE-89B2-E2F142C4E487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31F4-AD17-4806-ADE0-0ED8C8F124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2216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04282-BCC0-4CDE-89B2-E2F142C4E487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31F4-AD17-4806-ADE0-0ED8C8F124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3003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704282-BCC0-4CDE-89B2-E2F142C4E487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7C31F4-AD17-4806-ADE0-0ED8C8F124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4267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01218" y="3987685"/>
            <a:ext cx="2157664" cy="83099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Stroke Review in ED</a:t>
            </a:r>
          </a:p>
          <a:p>
            <a:pPr algn="ctr"/>
            <a:r>
              <a:rPr lang="en-GB" sz="1200" b="1" dirty="0"/>
              <a:t>(supported by stroke </a:t>
            </a:r>
            <a:r>
              <a:rPr lang="en-GB" sz="1200" b="1" dirty="0" err="1"/>
              <a:t>consultant,stroke</a:t>
            </a:r>
            <a:r>
              <a:rPr lang="en-GB" sz="1200" b="1" dirty="0"/>
              <a:t> reg or RMO2)</a:t>
            </a:r>
          </a:p>
        </p:txBody>
      </p:sp>
      <p:sp>
        <p:nvSpPr>
          <p:cNvPr id="35" name="Right Arrow 34"/>
          <p:cNvSpPr/>
          <p:nvPr/>
        </p:nvSpPr>
        <p:spPr>
          <a:xfrm rot="5400000">
            <a:off x="1010402" y="3380691"/>
            <a:ext cx="722393" cy="3539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sp>
        <p:nvSpPr>
          <p:cNvPr id="21" name="Right Arrow 20"/>
          <p:cNvSpPr/>
          <p:nvPr/>
        </p:nvSpPr>
        <p:spPr>
          <a:xfrm rot="5400000">
            <a:off x="10269665" y="4819013"/>
            <a:ext cx="759976" cy="3539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/>
          <p:cNvSpPr txBox="1"/>
          <p:nvPr/>
        </p:nvSpPr>
        <p:spPr>
          <a:xfrm>
            <a:off x="641684" y="441158"/>
            <a:ext cx="1299410" cy="3077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YAS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684" y="1218976"/>
            <a:ext cx="1299410" cy="83099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BEFAST +</a:t>
            </a:r>
            <a:r>
              <a:rPr lang="en-GB" sz="1600" b="1" dirty="0" err="1"/>
              <a:t>ve</a:t>
            </a:r>
            <a:endParaRPr lang="en-GB" sz="1600" b="1" dirty="0"/>
          </a:p>
          <a:p>
            <a:pPr algn="ctr"/>
            <a:r>
              <a:rPr lang="en-GB" sz="1600" b="1" dirty="0"/>
              <a:t>or</a:t>
            </a:r>
          </a:p>
          <a:p>
            <a:pPr algn="ctr"/>
            <a:r>
              <a:rPr lang="en-GB" sz="1600" b="1" dirty="0"/>
              <a:t>FAST (O) +</a:t>
            </a:r>
            <a:r>
              <a:rPr lang="en-GB" sz="1600" b="1" dirty="0" err="1"/>
              <a:t>ve</a:t>
            </a:r>
            <a:endParaRPr lang="en-GB" sz="16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2883567" y="449179"/>
            <a:ext cx="1696453" cy="10464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AMBULANCE</a:t>
            </a:r>
          </a:p>
          <a:p>
            <a:pPr algn="ctr"/>
            <a:r>
              <a:rPr lang="en-GB" sz="1200" b="1" dirty="0"/>
              <a:t>Pt has not been referred to stroke team</a:t>
            </a:r>
          </a:p>
          <a:p>
            <a:pPr algn="ctr"/>
            <a:r>
              <a:rPr lang="en-GB" sz="1200" b="1" dirty="0"/>
              <a:t>Or declined by stroke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624" y="572290"/>
            <a:ext cx="1548063" cy="55399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AMBULATORY </a:t>
            </a:r>
            <a:r>
              <a:rPr lang="en-GB" sz="1400" b="1" dirty="0"/>
              <a:t>PATIENT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39326" y="1689068"/>
            <a:ext cx="2879558" cy="52322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ED NURSE TRIAGE/STREAM</a:t>
            </a:r>
          </a:p>
          <a:p>
            <a:pPr algn="ctr"/>
            <a:r>
              <a:rPr lang="en-GB" sz="1400" b="1" dirty="0"/>
              <a:t>Suspect Stroke (ROSIER +</a:t>
            </a:r>
            <a:r>
              <a:rPr lang="en-GB" sz="1400" b="1" dirty="0" err="1"/>
              <a:t>ve</a:t>
            </a:r>
            <a:r>
              <a:rPr lang="en-GB" sz="1400" b="1" dirty="0"/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06702" y="3196465"/>
            <a:ext cx="1459832" cy="73866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Stroke Likely- managed by stroke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66285" y="3952438"/>
            <a:ext cx="2566739" cy="67710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Stroke Unlikely</a:t>
            </a:r>
          </a:p>
          <a:p>
            <a:pPr algn="ctr"/>
            <a:r>
              <a:rPr lang="en-GB" sz="1200" b="1" dirty="0"/>
              <a:t>(discussion with stroke consultant</a:t>
            </a:r>
            <a:r>
              <a:rPr lang="en-GB" sz="1200" b="1"/>
              <a:t>/RMO2)</a:t>
            </a:r>
            <a:endParaRPr lang="en-GB" sz="12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9324910" y="5375971"/>
            <a:ext cx="2608114" cy="83099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600" b="1" dirty="0"/>
              <a:t>Placed in Patient Queue</a:t>
            </a:r>
          </a:p>
          <a:p>
            <a:r>
              <a:rPr lang="en-GB" sz="1600" b="1" dirty="0"/>
              <a:t>Seen in Triage/ Time order</a:t>
            </a:r>
          </a:p>
          <a:p>
            <a:r>
              <a:rPr lang="en-GB" sz="1600" b="1" dirty="0"/>
              <a:t>Await ED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28159" y="5982339"/>
            <a:ext cx="2679404" cy="58477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600" b="1"/>
              <a:t>Non </a:t>
            </a:r>
            <a:r>
              <a:rPr lang="en-GB" sz="1600" b="1" dirty="0"/>
              <a:t>Stroke-</a:t>
            </a:r>
          </a:p>
          <a:p>
            <a:pPr algn="ctr"/>
            <a:r>
              <a:rPr lang="en-GB" sz="1600" b="1" dirty="0"/>
              <a:t>Alternate Pathway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28159" y="5109554"/>
            <a:ext cx="2679404" cy="83099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Still Suspect Stroke</a:t>
            </a:r>
          </a:p>
          <a:p>
            <a:pPr algn="ctr"/>
            <a:r>
              <a:rPr lang="en-GB" sz="1600" b="1" dirty="0"/>
              <a:t>(Discussion/review with ED Reg/Cons)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37399" y="5537940"/>
            <a:ext cx="2679404" cy="58477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ED Review Medic/Practitioner Review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8B76A1-D527-1E4D-B39E-57F593817E2F}"/>
              </a:ext>
            </a:extLst>
          </p:cNvPr>
          <p:cNvSpPr/>
          <p:nvPr/>
        </p:nvSpPr>
        <p:spPr>
          <a:xfrm>
            <a:off x="463895" y="3352771"/>
            <a:ext cx="792166" cy="1973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Accepted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97D0D0-1B2A-E872-0261-1FE28A921FF0}"/>
              </a:ext>
            </a:extLst>
          </p:cNvPr>
          <p:cNvSpPr/>
          <p:nvPr/>
        </p:nvSpPr>
        <p:spPr>
          <a:xfrm>
            <a:off x="10826625" y="4804913"/>
            <a:ext cx="771326" cy="2392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For ED review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C13314D-8915-268A-70FC-C66B153E329B}"/>
              </a:ext>
            </a:extLst>
          </p:cNvPr>
          <p:cNvSpPr/>
          <p:nvPr/>
        </p:nvSpPr>
        <p:spPr>
          <a:xfrm>
            <a:off x="167951" y="5187820"/>
            <a:ext cx="927627" cy="93489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Discuss with Stroke Consultant for decision</a:t>
            </a:r>
          </a:p>
        </p:txBody>
      </p:sp>
      <p:sp>
        <p:nvSpPr>
          <p:cNvPr id="31" name="Diamond 30">
            <a:extLst>
              <a:ext uri="{FF2B5EF4-FFF2-40B4-BE49-F238E27FC236}">
                <a16:creationId xmlns:a16="http://schemas.microsoft.com/office/drawing/2014/main" id="{E7683C29-3486-A544-C57F-8D1D5B9DFC5D}"/>
              </a:ext>
            </a:extLst>
          </p:cNvPr>
          <p:cNvSpPr/>
          <p:nvPr/>
        </p:nvSpPr>
        <p:spPr>
          <a:xfrm flipH="1">
            <a:off x="6484775" y="2898419"/>
            <a:ext cx="1614195" cy="1158155"/>
          </a:xfrm>
          <a:prstGeom prst="diamond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Refer to Stroke</a:t>
            </a:r>
          </a:p>
          <a:p>
            <a:pPr algn="ctr"/>
            <a:r>
              <a:rPr lang="en-GB" sz="1000" b="1" dirty="0">
                <a:solidFill>
                  <a:schemeClr val="tx1"/>
                </a:solidFill>
              </a:rPr>
              <a:t>Co-ordinator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D92540D-B492-6687-F45D-7066512C80A1}"/>
              </a:ext>
            </a:extLst>
          </p:cNvPr>
          <p:cNvCxnSpPr>
            <a:cxnSpLocks/>
            <a:stCxn id="9" idx="2"/>
            <a:endCxn id="31" idx="0"/>
          </p:cNvCxnSpPr>
          <p:nvPr/>
        </p:nvCxnSpPr>
        <p:spPr>
          <a:xfrm>
            <a:off x="7279105" y="2212288"/>
            <a:ext cx="12767" cy="686131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4" name="Arrow: Left 43">
            <a:extLst>
              <a:ext uri="{FF2B5EF4-FFF2-40B4-BE49-F238E27FC236}">
                <a16:creationId xmlns:a16="http://schemas.microsoft.com/office/drawing/2014/main" id="{CF50C537-8C4B-1BB7-5D00-3088F8679E10}"/>
              </a:ext>
            </a:extLst>
          </p:cNvPr>
          <p:cNvSpPr/>
          <p:nvPr/>
        </p:nvSpPr>
        <p:spPr>
          <a:xfrm>
            <a:off x="5407806" y="3196465"/>
            <a:ext cx="1035697" cy="52322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b="1" dirty="0">
                <a:solidFill>
                  <a:schemeClr val="tx1"/>
                </a:solidFill>
              </a:rPr>
              <a:t>Review and Accept</a:t>
            </a:r>
          </a:p>
        </p:txBody>
      </p:sp>
      <p:sp>
        <p:nvSpPr>
          <p:cNvPr id="45" name="Arrow: Bent 44">
            <a:extLst>
              <a:ext uri="{FF2B5EF4-FFF2-40B4-BE49-F238E27FC236}">
                <a16:creationId xmlns:a16="http://schemas.microsoft.com/office/drawing/2014/main" id="{C49231B7-E0AD-80A8-3D1A-04F58727FF3F}"/>
              </a:ext>
            </a:extLst>
          </p:cNvPr>
          <p:cNvSpPr/>
          <p:nvPr/>
        </p:nvSpPr>
        <p:spPr>
          <a:xfrm>
            <a:off x="2284616" y="3357204"/>
            <a:ext cx="1614195" cy="61971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Review and Accept</a:t>
            </a:r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15D42284-0C7A-D73B-F9A6-76149DF4D816}"/>
              </a:ext>
            </a:extLst>
          </p:cNvPr>
          <p:cNvSpPr/>
          <p:nvPr/>
        </p:nvSpPr>
        <p:spPr>
          <a:xfrm>
            <a:off x="2558882" y="4372660"/>
            <a:ext cx="1696453" cy="3700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Not a stroke</a:t>
            </a:r>
          </a:p>
        </p:txBody>
      </p:sp>
      <p:sp>
        <p:nvSpPr>
          <p:cNvPr id="48" name="Diamond 47">
            <a:extLst>
              <a:ext uri="{FF2B5EF4-FFF2-40B4-BE49-F238E27FC236}">
                <a16:creationId xmlns:a16="http://schemas.microsoft.com/office/drawing/2014/main" id="{86FE6833-286B-1D5E-A645-4DECECE92725}"/>
              </a:ext>
            </a:extLst>
          </p:cNvPr>
          <p:cNvSpPr/>
          <p:nvPr/>
        </p:nvSpPr>
        <p:spPr>
          <a:xfrm flipH="1">
            <a:off x="682575" y="2328571"/>
            <a:ext cx="1291347" cy="810623"/>
          </a:xfrm>
          <a:prstGeom prst="diamond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b="1" dirty="0">
                <a:solidFill>
                  <a:schemeClr val="tx1"/>
                </a:solidFill>
              </a:rPr>
              <a:t>Refer to Stroke</a:t>
            </a:r>
          </a:p>
          <a:p>
            <a:pPr algn="ctr"/>
            <a:r>
              <a:rPr lang="en-GB" sz="900" b="1" dirty="0">
                <a:solidFill>
                  <a:schemeClr val="tx1"/>
                </a:solidFill>
              </a:rPr>
              <a:t>Co-ordinator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C598598-198C-8548-A4EE-1998AA276DB9}"/>
              </a:ext>
            </a:extLst>
          </p:cNvPr>
          <p:cNvCxnSpPr/>
          <p:nvPr/>
        </p:nvCxnSpPr>
        <p:spPr>
          <a:xfrm flipH="1">
            <a:off x="8826759" y="1218976"/>
            <a:ext cx="1558212" cy="69380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924470B-4B10-31BE-5078-397D99413A64}"/>
              </a:ext>
            </a:extLst>
          </p:cNvPr>
          <p:cNvCxnSpPr/>
          <p:nvPr/>
        </p:nvCxnSpPr>
        <p:spPr>
          <a:xfrm>
            <a:off x="4580020" y="1362269"/>
            <a:ext cx="1259306" cy="550507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5" name="Arrow: Bent 54">
            <a:extLst>
              <a:ext uri="{FF2B5EF4-FFF2-40B4-BE49-F238E27FC236}">
                <a16:creationId xmlns:a16="http://schemas.microsoft.com/office/drawing/2014/main" id="{C678A13B-B437-C694-FBB2-C1C6A35A4B95}"/>
              </a:ext>
            </a:extLst>
          </p:cNvPr>
          <p:cNvSpPr/>
          <p:nvPr/>
        </p:nvSpPr>
        <p:spPr>
          <a:xfrm flipV="1">
            <a:off x="7724667" y="3805689"/>
            <a:ext cx="1554054" cy="596712"/>
          </a:xfrm>
          <a:prstGeom prst="bentArrow">
            <a:avLst>
              <a:gd name="adj1" fmla="val 25000"/>
              <a:gd name="adj2" fmla="val 24018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61A733E-EE94-3DD2-B3FE-3DA7E7BA9394}"/>
              </a:ext>
            </a:extLst>
          </p:cNvPr>
          <p:cNvSpPr/>
          <p:nvPr/>
        </p:nvSpPr>
        <p:spPr>
          <a:xfrm>
            <a:off x="8005665" y="3935129"/>
            <a:ext cx="1058931" cy="2368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Review and Decline</a:t>
            </a:r>
          </a:p>
        </p:txBody>
      </p:sp>
      <p:sp>
        <p:nvSpPr>
          <p:cNvPr id="59" name="Thought Bubble: Cloud 58">
            <a:extLst>
              <a:ext uri="{FF2B5EF4-FFF2-40B4-BE49-F238E27FC236}">
                <a16:creationId xmlns:a16="http://schemas.microsoft.com/office/drawing/2014/main" id="{72737BD4-50AE-54F5-D740-C479D810E208}"/>
              </a:ext>
            </a:extLst>
          </p:cNvPr>
          <p:cNvSpPr/>
          <p:nvPr/>
        </p:nvSpPr>
        <p:spPr>
          <a:xfrm>
            <a:off x="6347791" y="4222602"/>
            <a:ext cx="1830693" cy="1223069"/>
          </a:xfrm>
          <a:prstGeom prst="cloud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/>
              <a:t>If ED still concerned about stroke, d/w stroke cons or ED senior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B0C71C6-38D2-10FF-2E8C-A2DE18785D6C}"/>
              </a:ext>
            </a:extLst>
          </p:cNvPr>
          <p:cNvCxnSpPr/>
          <p:nvPr/>
        </p:nvCxnSpPr>
        <p:spPr>
          <a:xfrm>
            <a:off x="1256061" y="839755"/>
            <a:ext cx="0" cy="286533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C9CD14E-A7E5-1432-212E-213FBAA07EBB}"/>
              </a:ext>
            </a:extLst>
          </p:cNvPr>
          <p:cNvCxnSpPr/>
          <p:nvPr/>
        </p:nvCxnSpPr>
        <p:spPr>
          <a:xfrm>
            <a:off x="1330706" y="2109652"/>
            <a:ext cx="0" cy="201191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D1F362F-CBEB-814E-5E22-AC8EF3424545}"/>
              </a:ext>
            </a:extLst>
          </p:cNvPr>
          <p:cNvCxnSpPr/>
          <p:nvPr/>
        </p:nvCxnSpPr>
        <p:spPr>
          <a:xfrm flipH="1">
            <a:off x="8388220" y="5894415"/>
            <a:ext cx="890501" cy="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35E2673-2824-EE9C-017A-7465551F3578}"/>
              </a:ext>
            </a:extLst>
          </p:cNvPr>
          <p:cNvCxnSpPr>
            <a:stCxn id="25" idx="1"/>
          </p:cNvCxnSpPr>
          <p:nvPr/>
        </p:nvCxnSpPr>
        <p:spPr>
          <a:xfrm flipH="1" flipV="1">
            <a:off x="4478694" y="5574749"/>
            <a:ext cx="1158705" cy="255579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DD9AF37-32A6-5446-0EAC-D6192C9A85CC}"/>
              </a:ext>
            </a:extLst>
          </p:cNvPr>
          <p:cNvCxnSpPr>
            <a:stCxn id="25" idx="1"/>
          </p:cNvCxnSpPr>
          <p:nvPr/>
        </p:nvCxnSpPr>
        <p:spPr>
          <a:xfrm flipH="1">
            <a:off x="4478694" y="5830328"/>
            <a:ext cx="1158705" cy="458505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5D7489B-81A2-4018-B9BB-7A82796A61B5}"/>
              </a:ext>
            </a:extLst>
          </p:cNvPr>
          <p:cNvCxnSpPr/>
          <p:nvPr/>
        </p:nvCxnSpPr>
        <p:spPr>
          <a:xfrm flipH="1">
            <a:off x="1194627" y="5574749"/>
            <a:ext cx="533532" cy="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401B00C-6DD1-AC05-4875-2B1B589BE51E}"/>
              </a:ext>
            </a:extLst>
          </p:cNvPr>
          <p:cNvSpPr/>
          <p:nvPr/>
        </p:nvSpPr>
        <p:spPr>
          <a:xfrm>
            <a:off x="4280464" y="4348513"/>
            <a:ext cx="2021138" cy="5967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Refer on as appropriate or discharge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C354D3-6FE8-5768-5410-403C495A98EE}"/>
              </a:ext>
            </a:extLst>
          </p:cNvPr>
          <p:cNvSpPr/>
          <p:nvPr/>
        </p:nvSpPr>
        <p:spPr>
          <a:xfrm>
            <a:off x="9064596" y="2049973"/>
            <a:ext cx="2663509" cy="15001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If after discussions with SPOC, stroke felt unlikely, referral can be rejected on the phone without a review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F61F0E4-F084-00EC-F322-1FEBF6F9D52D}"/>
              </a:ext>
            </a:extLst>
          </p:cNvPr>
          <p:cNvCxnSpPr>
            <a:endCxn id="6" idx="1"/>
          </p:cNvCxnSpPr>
          <p:nvPr/>
        </p:nvCxnSpPr>
        <p:spPr>
          <a:xfrm>
            <a:off x="7914640" y="2212288"/>
            <a:ext cx="1149956" cy="58777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8075DB-244F-5809-29AC-2854927B51E1}"/>
              </a:ext>
            </a:extLst>
          </p:cNvPr>
          <p:cNvCxnSpPr/>
          <p:nvPr/>
        </p:nvCxnSpPr>
        <p:spPr>
          <a:xfrm flipV="1">
            <a:off x="7863840" y="2898419"/>
            <a:ext cx="1200756" cy="45435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8306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0b942bf-e77b-4b79-9a3a-01173b17253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E625FE9F160C41948F2A087B751D69" ma:contentTypeVersion="10" ma:contentTypeDescription="Create a new document." ma:contentTypeScope="" ma:versionID="e26866207a2ecd0b8a20fc531a42a08a">
  <xsd:schema xmlns:xsd="http://www.w3.org/2001/XMLSchema" xmlns:xs="http://www.w3.org/2001/XMLSchema" xmlns:p="http://schemas.microsoft.com/office/2006/metadata/properties" xmlns:ns3="40b942bf-e77b-4b79-9a3a-01173b17253a" targetNamespace="http://schemas.microsoft.com/office/2006/metadata/properties" ma:root="true" ma:fieldsID="acaa08a24032266450c3f3a2d86249a9" ns3:_="">
    <xsd:import namespace="40b942bf-e77b-4b79-9a3a-01173b17253a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b942bf-e77b-4b79-9a3a-01173b17253a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8A75873-35A8-4336-A2F9-4DD072E47111}">
  <ds:schemaRefs>
    <ds:schemaRef ds:uri="http://schemas.microsoft.com/office/infopath/2007/PartnerControls"/>
    <ds:schemaRef ds:uri="40b942bf-e77b-4b79-9a3a-01173b17253a"/>
    <ds:schemaRef ds:uri="http://purl.org/dc/terms/"/>
    <ds:schemaRef ds:uri="http://purl.org/dc/dcmitype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48EAFAA6-3F62-4B75-B0DA-65A191E26D1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0b942bf-e77b-4b79-9a3a-01173b17253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24C4181-B829-4700-96E5-10E1796B189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177</Words>
  <Application>Microsoft Office PowerPoint</Application>
  <PresentationFormat>Widescreen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Hull Teaching Hospitals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HIGSON, Mark (HULL UNIVERSITY TEACHING HOSPITALS NHS TRUST)</dc:creator>
  <cp:lastModifiedBy>CHERIAN, Biju (NHS HUMBER HEALTH PARTNERSHIP - RWA)</cp:lastModifiedBy>
  <cp:revision>26</cp:revision>
  <cp:lastPrinted>2025-08-14T11:23:44Z</cp:lastPrinted>
  <dcterms:created xsi:type="dcterms:W3CDTF">2025-08-14T10:32:59Z</dcterms:created>
  <dcterms:modified xsi:type="dcterms:W3CDTF">2025-12-05T14:09:29Z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0x01010076E625FE9F160C41948F2A087B751D69</vt:lpwstr>
  </property>
</Properties>
</file>