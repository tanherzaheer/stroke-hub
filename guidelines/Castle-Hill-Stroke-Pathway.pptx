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85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09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52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93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33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298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50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00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71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21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00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04282-BCC0-4CDE-89B2-E2F142C4E48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26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257279" y="1213609"/>
            <a:ext cx="1783521" cy="738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Not candidate for reperfusion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684" y="441158"/>
            <a:ext cx="1299410" cy="5232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Suspected stroke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3695" y="355992"/>
            <a:ext cx="1299410" cy="73866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Appropriate assessment by senior clinician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5173" y="1330910"/>
            <a:ext cx="1696453" cy="46166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Ensure all clinical information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3522" y="1256025"/>
            <a:ext cx="1783523" cy="6463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Contact critical care outreach if within 24 hours of suspected onset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563" y="333436"/>
            <a:ext cx="2135443" cy="73866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Refer stroke consultant</a:t>
            </a:r>
          </a:p>
          <a:p>
            <a:pPr algn="ctr"/>
            <a:r>
              <a:rPr lang="en-GB" sz="1400" b="1" dirty="0"/>
              <a:t>(No need for imaging prior to referral)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7464" y="437614"/>
            <a:ext cx="1459832" cy="52322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Clinical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6285" y="386770"/>
            <a:ext cx="2566739" cy="5232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Potential candidate for reperfusion treatment</a:t>
            </a:r>
            <a:endParaRPr lang="en-GB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345597" y="1486857"/>
            <a:ext cx="2608114" cy="7386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Arrange urgent imaging in conjunction with arranging 999 ambulance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3218" y="4129839"/>
            <a:ext cx="2679404" cy="7386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If ambulance arrives more than 30 minutes from when imaging can be completed, transfer to HRI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8B76A1-D527-1E4D-B39E-57F593817E2F}"/>
              </a:ext>
            </a:extLst>
          </p:cNvPr>
          <p:cNvSpPr/>
          <p:nvPr/>
        </p:nvSpPr>
        <p:spPr>
          <a:xfrm>
            <a:off x="7160979" y="2315753"/>
            <a:ext cx="1968999" cy="5013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Arrange urgent imaging as clinically indicated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13314D-8915-268A-70FC-C66B153E329B}"/>
              </a:ext>
            </a:extLst>
          </p:cNvPr>
          <p:cNvSpPr/>
          <p:nvPr/>
        </p:nvSpPr>
        <p:spPr>
          <a:xfrm>
            <a:off x="7182489" y="3088843"/>
            <a:ext cx="1925979" cy="6803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Review of imaging and appropriate clinical decision making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92540D-B492-6687-F45D-7066512C80A1}"/>
              </a:ext>
            </a:extLst>
          </p:cNvPr>
          <p:cNvCxnSpPr>
            <a:cxnSpLocks/>
          </p:cNvCxnSpPr>
          <p:nvPr/>
        </p:nvCxnSpPr>
        <p:spPr>
          <a:xfrm flipV="1">
            <a:off x="6571633" y="702768"/>
            <a:ext cx="845831" cy="2351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C598598-198C-8548-A4EE-1998AA276DB9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8147380" y="960834"/>
            <a:ext cx="1660" cy="252775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924470B-4B10-31BE-5078-397D99413A64}"/>
              </a:ext>
            </a:extLst>
          </p:cNvPr>
          <p:cNvCxnSpPr>
            <a:cxnSpLocks/>
          </p:cNvCxnSpPr>
          <p:nvPr/>
        </p:nvCxnSpPr>
        <p:spPr>
          <a:xfrm>
            <a:off x="3590990" y="725324"/>
            <a:ext cx="816573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61A733E-EE94-3DD2-B3FE-3DA7E7BA9394}"/>
              </a:ext>
            </a:extLst>
          </p:cNvPr>
          <p:cNvSpPr/>
          <p:nvPr/>
        </p:nvSpPr>
        <p:spPr>
          <a:xfrm>
            <a:off x="9603694" y="2811725"/>
            <a:ext cx="2091920" cy="6585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Patient to be conveyed to radiology by clinical team</a:t>
            </a:r>
          </a:p>
          <a:p>
            <a:pPr algn="ctr"/>
            <a:r>
              <a:rPr lang="en-GB" sz="1400" b="1" dirty="0">
                <a:solidFill>
                  <a:schemeClr val="tx1"/>
                </a:solidFill>
              </a:rPr>
              <a:t>(Do not wait for porters)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B0C71C6-38D2-10FF-2E8C-A2DE18785D6C}"/>
              </a:ext>
            </a:extLst>
          </p:cNvPr>
          <p:cNvCxnSpPr>
            <a:cxnSpLocks/>
          </p:cNvCxnSpPr>
          <p:nvPr/>
        </p:nvCxnSpPr>
        <p:spPr>
          <a:xfrm>
            <a:off x="1941094" y="707467"/>
            <a:ext cx="303317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D1F362F-CBEB-814E-5E22-AC8EF3424545}"/>
              </a:ext>
            </a:extLst>
          </p:cNvPr>
          <p:cNvCxnSpPr>
            <a:cxnSpLocks/>
          </p:cNvCxnSpPr>
          <p:nvPr/>
        </p:nvCxnSpPr>
        <p:spPr>
          <a:xfrm>
            <a:off x="8877296" y="706192"/>
            <a:ext cx="488989" cy="1275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35E2673-2824-EE9C-017A-7465551F357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0649655" y="909990"/>
            <a:ext cx="0" cy="56826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5D7489B-81A2-4018-B9BB-7A82796A61B5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8145478" y="1952273"/>
            <a:ext cx="1" cy="36348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524B22-B92F-AEB0-63DA-8317159E8891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0649654" y="2225521"/>
            <a:ext cx="0" cy="5768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6C38B67-8196-2C7A-425E-150E391486FC}"/>
              </a:ext>
            </a:extLst>
          </p:cNvPr>
          <p:cNvCxnSpPr>
            <a:cxnSpLocks/>
            <a:stCxn id="56" idx="2"/>
            <a:endCxn id="24" idx="0"/>
          </p:cNvCxnSpPr>
          <p:nvPr/>
        </p:nvCxnSpPr>
        <p:spPr>
          <a:xfrm>
            <a:off x="10649654" y="3470281"/>
            <a:ext cx="3266" cy="6595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E9EC190-22FE-0A1A-A306-E3D8A1BB9294}"/>
              </a:ext>
            </a:extLst>
          </p:cNvPr>
          <p:cNvCxnSpPr>
            <a:cxnSpLocks/>
            <a:stCxn id="3" idx="2"/>
            <a:endCxn id="38" idx="0"/>
          </p:cNvCxnSpPr>
          <p:nvPr/>
        </p:nvCxnSpPr>
        <p:spPr>
          <a:xfrm>
            <a:off x="8145479" y="2817074"/>
            <a:ext cx="0" cy="2717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1C0E643-DFAF-4F52-9557-B5E5762AAB19}"/>
              </a:ext>
            </a:extLst>
          </p:cNvPr>
          <p:cNvSpPr txBox="1"/>
          <p:nvPr/>
        </p:nvSpPr>
        <p:spPr>
          <a:xfrm>
            <a:off x="10723600" y="2315753"/>
            <a:ext cx="1156166" cy="40011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Check availability of Tenecteplase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0C87F48-8F8F-D255-A995-435A0ABDEB14}"/>
              </a:ext>
            </a:extLst>
          </p:cNvPr>
          <p:cNvSpPr txBox="1"/>
          <p:nvPr/>
        </p:nvSpPr>
        <p:spPr>
          <a:xfrm>
            <a:off x="9449536" y="2315753"/>
            <a:ext cx="1095462" cy="40011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Ensure recent weight available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70172-BACC-7DE6-2651-91194D1D5D0B}"/>
              </a:ext>
            </a:extLst>
          </p:cNvPr>
          <p:cNvSpPr txBox="1"/>
          <p:nvPr/>
        </p:nvSpPr>
        <p:spPr>
          <a:xfrm>
            <a:off x="9569091" y="5328372"/>
            <a:ext cx="2161126" cy="1169551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Review at HRI if transferred prior to imaging.  Imaging and treatment completed as required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11CC9C-C092-C43A-A264-6BA176BE114D}"/>
              </a:ext>
            </a:extLst>
          </p:cNvPr>
          <p:cNvCxnSpPr>
            <a:cxnSpLocks/>
            <a:stCxn id="24" idx="2"/>
            <a:endCxn id="2" idx="0"/>
          </p:cNvCxnSpPr>
          <p:nvPr/>
        </p:nvCxnSpPr>
        <p:spPr>
          <a:xfrm flipH="1">
            <a:off x="10649654" y="4868503"/>
            <a:ext cx="3266" cy="4598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CBF258-C684-245C-4601-9EFC8BF2336B}"/>
              </a:ext>
            </a:extLst>
          </p:cNvPr>
          <p:cNvCxnSpPr>
            <a:cxnSpLocks/>
            <a:stCxn id="24" idx="1"/>
            <a:endCxn id="32" idx="3"/>
          </p:cNvCxnSpPr>
          <p:nvPr/>
        </p:nvCxnSpPr>
        <p:spPr>
          <a:xfrm flipH="1" flipV="1">
            <a:off x="8209960" y="4499169"/>
            <a:ext cx="1103258" cy="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8E95766-5976-D606-DAA2-2A99AC6018FE}"/>
              </a:ext>
            </a:extLst>
          </p:cNvPr>
          <p:cNvSpPr txBox="1"/>
          <p:nvPr/>
        </p:nvSpPr>
        <p:spPr>
          <a:xfrm>
            <a:off x="6505345" y="4237559"/>
            <a:ext cx="1704615" cy="523220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Imaging completed at Castle Hill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A645ED-07DC-3921-9FE4-12E0C507ACB6}"/>
              </a:ext>
            </a:extLst>
          </p:cNvPr>
          <p:cNvSpPr txBox="1"/>
          <p:nvPr/>
        </p:nvSpPr>
        <p:spPr>
          <a:xfrm>
            <a:off x="4323488" y="4022117"/>
            <a:ext cx="1479161" cy="954107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Patient eligible for thrombolysis and/or thrombectomy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BDDDC39-336A-3621-FD9A-D902EE577103}"/>
              </a:ext>
            </a:extLst>
          </p:cNvPr>
          <p:cNvCxnSpPr>
            <a:cxnSpLocks/>
            <a:stCxn id="32" idx="1"/>
            <a:endCxn id="34" idx="3"/>
          </p:cNvCxnSpPr>
          <p:nvPr/>
        </p:nvCxnSpPr>
        <p:spPr>
          <a:xfrm flipH="1">
            <a:off x="5802649" y="4499169"/>
            <a:ext cx="702696" cy="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F1AFDD4-5951-957E-9456-D0C9ABBACDBA}"/>
              </a:ext>
            </a:extLst>
          </p:cNvPr>
          <p:cNvSpPr txBox="1"/>
          <p:nvPr/>
        </p:nvSpPr>
        <p:spPr>
          <a:xfrm>
            <a:off x="6283165" y="5022391"/>
            <a:ext cx="2148973" cy="7386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Patient not eligible for thrombolysis or thrombectomy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9570F9C-65CF-6003-9041-9BDE8E502737}"/>
              </a:ext>
            </a:extLst>
          </p:cNvPr>
          <p:cNvCxnSpPr>
            <a:cxnSpLocks/>
            <a:stCxn id="32" idx="2"/>
            <a:endCxn id="39" idx="0"/>
          </p:cNvCxnSpPr>
          <p:nvPr/>
        </p:nvCxnSpPr>
        <p:spPr>
          <a:xfrm flipH="1">
            <a:off x="7357652" y="4760779"/>
            <a:ext cx="1" cy="26161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35A63A4-DA25-6D86-89C8-A082BF816E31}"/>
              </a:ext>
            </a:extLst>
          </p:cNvPr>
          <p:cNvSpPr txBox="1"/>
          <p:nvPr/>
        </p:nvSpPr>
        <p:spPr>
          <a:xfrm>
            <a:off x="6376268" y="5971594"/>
            <a:ext cx="1962766" cy="52322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Transfer to stroke unit if clinically appropriate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2FED288-81EA-69FB-C45B-B244D960291A}"/>
              </a:ext>
            </a:extLst>
          </p:cNvPr>
          <p:cNvCxnSpPr>
            <a:cxnSpLocks/>
            <a:stCxn id="39" idx="2"/>
            <a:endCxn id="48" idx="0"/>
          </p:cNvCxnSpPr>
          <p:nvPr/>
        </p:nvCxnSpPr>
        <p:spPr>
          <a:xfrm flipH="1">
            <a:off x="7357651" y="5761055"/>
            <a:ext cx="1" cy="2105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D763BBC-81E9-04B0-F269-3E901045CF37}"/>
              </a:ext>
            </a:extLst>
          </p:cNvPr>
          <p:cNvSpPr txBox="1"/>
          <p:nvPr/>
        </p:nvSpPr>
        <p:spPr>
          <a:xfrm>
            <a:off x="2233695" y="3806672"/>
            <a:ext cx="1562528" cy="1384995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Thrombolysis administered with Tenecteplase.</a:t>
            </a:r>
          </a:p>
          <a:p>
            <a:pPr algn="ctr"/>
            <a:r>
              <a:rPr lang="en-GB" sz="1400" b="1" dirty="0"/>
              <a:t>Monitoring support provided by outreach team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81582B8-F267-153C-B856-1B8517F24355}"/>
              </a:ext>
            </a:extLst>
          </p:cNvPr>
          <p:cNvCxnSpPr>
            <a:cxnSpLocks/>
            <a:stCxn id="34" idx="1"/>
            <a:endCxn id="55" idx="3"/>
          </p:cNvCxnSpPr>
          <p:nvPr/>
        </p:nvCxnSpPr>
        <p:spPr>
          <a:xfrm flipH="1" flipV="1">
            <a:off x="3796223" y="4499170"/>
            <a:ext cx="527265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AB2FCF5-5739-202B-1D23-535A9FAEB239}"/>
              </a:ext>
            </a:extLst>
          </p:cNvPr>
          <p:cNvSpPr txBox="1"/>
          <p:nvPr/>
        </p:nvSpPr>
        <p:spPr>
          <a:xfrm>
            <a:off x="399975" y="4129837"/>
            <a:ext cx="1449924" cy="7386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Transfer for thrombectomy if appropriate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B1B200B-2C71-0480-5CE6-F4AFFA6EAFB2}"/>
              </a:ext>
            </a:extLst>
          </p:cNvPr>
          <p:cNvCxnSpPr>
            <a:cxnSpLocks/>
            <a:stCxn id="55" idx="1"/>
            <a:endCxn id="74" idx="3"/>
          </p:cNvCxnSpPr>
          <p:nvPr/>
        </p:nvCxnSpPr>
        <p:spPr>
          <a:xfrm flipH="1" flipV="1">
            <a:off x="1849899" y="4499169"/>
            <a:ext cx="383796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781A5B17-0EEB-EBFA-5945-04384D8D65AD}"/>
              </a:ext>
            </a:extLst>
          </p:cNvPr>
          <p:cNvCxnSpPr>
            <a:stCxn id="55" idx="2"/>
            <a:endCxn id="48" idx="1"/>
          </p:cNvCxnSpPr>
          <p:nvPr/>
        </p:nvCxnSpPr>
        <p:spPr>
          <a:xfrm rot="16200000" flipH="1">
            <a:off x="4174845" y="4031780"/>
            <a:ext cx="1041537" cy="336130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775CFC9-3AE5-66C4-EC25-3DFB2A3BFD32}"/>
              </a:ext>
            </a:extLst>
          </p:cNvPr>
          <p:cNvCxnSpPr>
            <a:stCxn id="74" idx="2"/>
          </p:cNvCxnSpPr>
          <p:nvPr/>
        </p:nvCxnSpPr>
        <p:spPr>
          <a:xfrm rot="16200000" flipH="1">
            <a:off x="2971821" y="3021617"/>
            <a:ext cx="1548341" cy="5242108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6FDD8A4C-DBBF-99BE-011A-CB7045C3545D}"/>
              </a:ext>
            </a:extLst>
          </p:cNvPr>
          <p:cNvCxnSpPr>
            <a:cxnSpLocks/>
            <a:stCxn id="38" idx="3"/>
            <a:endCxn id="48" idx="3"/>
          </p:cNvCxnSpPr>
          <p:nvPr/>
        </p:nvCxnSpPr>
        <p:spPr>
          <a:xfrm flipH="1">
            <a:off x="8339034" y="3429000"/>
            <a:ext cx="769434" cy="2804204"/>
          </a:xfrm>
          <a:prstGeom prst="bentConnector3">
            <a:avLst>
              <a:gd name="adj1" fmla="val -1350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EC0868A6-B0B9-0F1A-313A-705DED4D96FD}"/>
              </a:ext>
            </a:extLst>
          </p:cNvPr>
          <p:cNvCxnSpPr>
            <a:cxnSpLocks/>
            <a:stCxn id="2" idx="2"/>
            <a:endCxn id="48" idx="2"/>
          </p:cNvCxnSpPr>
          <p:nvPr/>
        </p:nvCxnSpPr>
        <p:spPr>
          <a:xfrm rot="5400000" flipH="1">
            <a:off x="9002098" y="4850368"/>
            <a:ext cx="3109" cy="3292003"/>
          </a:xfrm>
          <a:prstGeom prst="bentConnector3">
            <a:avLst>
              <a:gd name="adj1" fmla="val -735284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306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b942bf-e77b-4b79-9a3a-01173b17253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E625FE9F160C41948F2A087B751D69" ma:contentTypeVersion="10" ma:contentTypeDescription="Create a new document." ma:contentTypeScope="" ma:versionID="e26866207a2ecd0b8a20fc531a42a08a">
  <xsd:schema xmlns:xsd="http://www.w3.org/2001/XMLSchema" xmlns:xs="http://www.w3.org/2001/XMLSchema" xmlns:p="http://schemas.microsoft.com/office/2006/metadata/properties" xmlns:ns3="40b942bf-e77b-4b79-9a3a-01173b17253a" targetNamespace="http://schemas.microsoft.com/office/2006/metadata/properties" ma:root="true" ma:fieldsID="acaa08a24032266450c3f3a2d86249a9" ns3:_="">
    <xsd:import namespace="40b942bf-e77b-4b79-9a3a-01173b17253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b942bf-e77b-4b79-9a3a-01173b17253a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A75873-35A8-4336-A2F9-4DD072E47111}">
  <ds:schemaRefs>
    <ds:schemaRef ds:uri="http://schemas.microsoft.com/office/infopath/2007/PartnerControls"/>
    <ds:schemaRef ds:uri="40b942bf-e77b-4b79-9a3a-01173b17253a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24C4181-B829-4700-96E5-10E1796B18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EAFAA6-3F62-4B75-B0DA-65A191E26D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b942bf-e77b-4b79-9a3a-01173b1725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169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Hull Teaching Hospitals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Esisi</dc:creator>
  <cp:lastModifiedBy>RAYESSA, Rayessa (NHS HUMBER HEALTH PARTNERSHIP - RWA)</cp:lastModifiedBy>
  <cp:revision>24</cp:revision>
  <cp:lastPrinted>2025-08-14T11:23:44Z</cp:lastPrinted>
  <dcterms:created xsi:type="dcterms:W3CDTF">2025-08-14T10:32:59Z</dcterms:created>
  <dcterms:modified xsi:type="dcterms:W3CDTF">2025-12-01T12:05:41Z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0x01010076E625FE9F160C41948F2A087B751D69</vt:lpwstr>
  </property>
</Properties>
</file>